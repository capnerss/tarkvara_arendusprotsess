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Язык моделирования UML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Обзор на основе материалов:</a:t>
            </a:r>
          </a:p>
          <a:p>
            <a:r>
              <a:t>capnerss.github.io/tarkvara_arendusprotsess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UML?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UML (Unified Modeling Language) — это унифицированный язык визуального моделирования.</a:t>
            </a:r>
          </a:p>
          <a:p>
            <a:pPr>
              <a:defRPr sz="2000"/>
            </a:pPr>
            <a:r>
              <a:t>Цель: Помочь клиентам и разработчикам понять структуру системы без чтения кода.</a:t>
            </a:r>
          </a:p>
          <a:p>
            <a:pPr>
              <a:defRPr sz="2000"/>
            </a:pPr>
            <a:r>
              <a:t>Используется для:</a:t>
            </a:r>
          </a:p>
          <a:p>
            <a:pPr>
              <a:defRPr sz="2000"/>
            </a:pPr>
            <a:r>
              <a:t>- Описания новой разработки.</a:t>
            </a:r>
          </a:p>
          <a:p>
            <a:pPr>
              <a:defRPr sz="2000"/>
            </a:pPr>
            <a:r>
              <a:t>- Документирования существующих систем.</a:t>
            </a:r>
          </a:p>
          <a:p>
            <a:pPr>
              <a:defRPr sz="2000"/>
            </a:pPr>
            <a:r>
              <a:t>История: Создан Гради Бучем и Джеймсом Рамбо для объектно-ориентированного программирования.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Типы диаграмм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Диаграммы делятся на две большие группы: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1. Структурные диаграммы (Structure Diagrams):</a:t>
            </a:r>
          </a:p>
          <a:p>
            <a:pPr>
              <a:defRPr sz="2000"/>
            </a:pPr>
            <a:r>
              <a:t>   - Показывают, из чего состоит система.</a:t>
            </a:r>
          </a:p>
          <a:p>
            <a:pPr>
              <a:defRPr sz="2000"/>
            </a:pPr>
            <a:r>
              <a:t>   - Примеры: Диаграмма классов, компонентов, развертывания.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2. Поведенческие диаграммы (Behavior Diagrams):</a:t>
            </a:r>
          </a:p>
          <a:p>
            <a:pPr>
              <a:defRPr sz="2000"/>
            </a:pPr>
            <a:r>
              <a:t>   - Показывают, как система ведет себя и взаимодействует.</a:t>
            </a:r>
          </a:p>
          <a:p>
            <a:pPr>
              <a:defRPr sz="2000"/>
            </a:pPr>
            <a:r>
              <a:t>   - Примеры: Use Case, Activity, Sequence (последовательности).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Диаграмма вариантов использования (Use Case)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Описание: Показывает взаимодействие между пользователями (акторами) и системой.</a:t>
            </a:r>
          </a:p>
          <a:p>
            <a:pPr>
              <a:defRPr sz="2000"/>
            </a:pPr>
            <a:r>
              <a:t>Ключевые элементы:</a:t>
            </a:r>
          </a:p>
          <a:p>
            <a:pPr>
              <a:defRPr sz="2000"/>
            </a:pPr>
            <a:r>
              <a:t>- Актор (Actor): Роль пользователя (человечек).</a:t>
            </a:r>
          </a:p>
          <a:p>
            <a:pPr>
              <a:defRPr sz="2000"/>
            </a:pPr>
            <a:r>
              <a:t>- Вариант использования (Use Case): Функция системы (овал).</a:t>
            </a:r>
          </a:p>
          <a:p>
            <a:pPr>
              <a:defRPr sz="2000"/>
            </a:pPr>
            <a:r>
              <a:t>- Связь: Линия взаимодействия.</a:t>
            </a:r>
          </a:p>
          <a:p>
            <a:pPr>
              <a:defRPr sz="2000"/>
            </a:pPr>
            <a:r>
              <a:t>- Границы системы: Рамка, определяющая, что внутри, а что снаружи.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Диаграмма классов (Class Diagram)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Описание: Самый популярный тип структурных диаграмм. Показывает статическую структуру.</a:t>
            </a:r>
          </a:p>
          <a:p>
            <a:pPr>
              <a:defRPr sz="2000"/>
            </a:pPr>
            <a:r>
              <a:t>Из чего состоит класс (прямоугольник):</a:t>
            </a:r>
          </a:p>
          <a:p>
            <a:pPr>
              <a:defRPr sz="2000"/>
            </a:pPr>
            <a:r>
              <a:t>1. Имя класса.</a:t>
            </a:r>
          </a:p>
          <a:p>
            <a:pPr>
              <a:defRPr sz="2000"/>
            </a:pPr>
            <a:r>
              <a:t>2. Атрибуты (данные/поля).</a:t>
            </a:r>
          </a:p>
          <a:p>
            <a:pPr>
              <a:defRPr sz="2000"/>
            </a:pPr>
            <a:r>
              <a:t>3. Операции (методы/функции).</a:t>
            </a:r>
          </a:p>
          <a:p>
            <a:pPr>
              <a:defRPr sz="2000"/>
            </a:pPr>
            <a:r>
              <a:t>Типы связей: Наследование, Ассоциация, Агрегация (часть-целое), Композиция.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Диаграмма последовательности (Sequence)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Описание: Показывает взаимодействие объектов во времени (шаг за шагом).</a:t>
            </a:r>
          </a:p>
          <a:p>
            <a:pPr>
              <a:defRPr sz="2000"/>
            </a:pPr>
            <a:r>
              <a:t>Ключевые элементы:</a:t>
            </a:r>
          </a:p>
          <a:p>
            <a:pPr>
              <a:defRPr sz="2000"/>
            </a:pPr>
            <a:r>
              <a:t>- Lifeline (Линия жизни): Вертикальная пунктирная линия объекта.</a:t>
            </a:r>
          </a:p>
          <a:p>
            <a:pPr>
              <a:defRPr sz="2000"/>
            </a:pPr>
            <a:r>
              <a:t>- Сообщения (Messages): Стрелки между линиями (вызов, ответ, создание).</a:t>
            </a:r>
          </a:p>
          <a:p>
            <a:pPr>
              <a:defRPr sz="2000"/>
            </a:pPr>
            <a:r>
              <a:t>- Активация: Узкий прямоугольник на линии жизни (период активности).</a:t>
            </a:r>
          </a:p>
          <a:p>
            <a:pPr>
              <a:defRPr sz="2000"/>
            </a:pPr>
            <a:r>
              <a:t>Фокус: Временной порядок взаимодействий.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Диаграмма состояний (State Machine)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Описание: Показывает переходы объекта из одного состояния в другое.</a:t>
            </a:r>
          </a:p>
          <a:p>
            <a:pPr>
              <a:defRPr sz="2000"/>
            </a:pPr>
            <a:r>
              <a:t>Когда используется: Для объектов со сложным жизненным циклом.</a:t>
            </a:r>
          </a:p>
          <a:p>
            <a:pPr>
              <a:defRPr sz="2000"/>
            </a:pPr>
            <a:r>
              <a:t>Элементы:</a:t>
            </a:r>
          </a:p>
          <a:p>
            <a:pPr>
              <a:defRPr sz="2000"/>
            </a:pPr>
            <a:r>
              <a:t>- Начальное состояние (черный круг).</a:t>
            </a:r>
          </a:p>
          <a:p>
            <a:pPr>
              <a:defRPr sz="2000"/>
            </a:pPr>
            <a:r>
              <a:t>- Состояние (прямоугольник с закругленными углами).</a:t>
            </a:r>
          </a:p>
          <a:p>
            <a:pPr>
              <a:defRPr sz="2000"/>
            </a:pPr>
            <a:r>
              <a:t>- Переход (стрелка) — происходит по событию.</a:t>
            </a:r>
          </a:p>
          <a:p>
            <a:pPr>
              <a:defRPr sz="2000"/>
            </a:pPr>
            <a:r>
              <a:t>- Конечное состояние.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Диаграмма профилей (Profile Diagram)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Описание: Работает на уровне метамодели. Позволяет адаптировать UML под конкретные задачи (например, для Java или C++).</a:t>
            </a:r>
          </a:p>
          <a:p>
            <a:pPr>
              <a:defRPr sz="2000"/>
            </a:pPr>
            <a:r>
              <a:t>Ключевые понятия:</a:t>
            </a:r>
          </a:p>
          <a:p>
            <a:pPr>
              <a:defRPr sz="2000"/>
            </a:pPr>
            <a:r>
              <a:t>- Стереотип («stereotype»): Новый элемент, расширяющий стандартный.</a:t>
            </a:r>
          </a:p>
          <a:p>
            <a:pPr>
              <a:defRPr sz="2000"/>
            </a:pPr>
            <a:r>
              <a:t>- Профиль: Пакет правил и расширений.</a:t>
            </a:r>
          </a:p>
          <a:p>
            <a:pPr>
              <a:defRPr sz="2000"/>
            </a:pPr>
            <a:r>
              <a:t>- Метакласс: Стандартный элемент UML, который мы расширяем.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